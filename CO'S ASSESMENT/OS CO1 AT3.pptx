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1"/>
  </p:notesMasterIdLst>
  <p:sldIdLst>
    <p:sldId id="256" r:id="rId2"/>
    <p:sldId id="257" r:id="rId3"/>
    <p:sldId id="275" r:id="rId4"/>
    <p:sldId id="261" r:id="rId5"/>
    <p:sldId id="260" r:id="rId6"/>
    <p:sldId id="276" r:id="rId7"/>
    <p:sldId id="277" r:id="rId8"/>
    <p:sldId id="273" r:id="rId9"/>
    <p:sldId id="274" r:id="rId10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391D2A-C1A7-456B-9789-6BBB6AC7F373}">
  <a:tblStyle styleId="{D9391D2A-C1A7-456B-9789-6BBB6AC7F3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" name="Google Shape;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>
          <a:extLst>
            <a:ext uri="{FF2B5EF4-FFF2-40B4-BE49-F238E27FC236}">
              <a16:creationId xmlns:a16="http://schemas.microsoft.com/office/drawing/2014/main" id="{DAC1AE7C-4D7C-4239-FB09-DAF09A63E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>
            <a:extLst>
              <a:ext uri="{FF2B5EF4-FFF2-40B4-BE49-F238E27FC236}">
                <a16:creationId xmlns:a16="http://schemas.microsoft.com/office/drawing/2014/main" id="{B23A390B-BC46-A39F-8AD1-159A0B1759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" name="Google Shape;50;p2:notes">
            <a:extLst>
              <a:ext uri="{FF2B5EF4-FFF2-40B4-BE49-F238E27FC236}">
                <a16:creationId xmlns:a16="http://schemas.microsoft.com/office/drawing/2014/main" id="{484A7F25-9DAC-22F8-4AD8-2360B10461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3041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774058" y="-19049"/>
            <a:ext cx="4643882" cy="951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97497" y="1544002"/>
            <a:ext cx="8756015" cy="338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774058" y="-19049"/>
            <a:ext cx="4643882" cy="951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3774058" y="-19049"/>
            <a:ext cx="4643882" cy="951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 b="0" i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774058" y="-19049"/>
            <a:ext cx="4643882" cy="951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97497" y="1544002"/>
            <a:ext cx="8756015" cy="338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/>
        </p:nvSpPr>
        <p:spPr>
          <a:xfrm>
            <a:off x="1680150" y="480543"/>
            <a:ext cx="8831700" cy="34987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0" marR="17145" lvl="0" indent="0" algn="ctr" rtl="0">
              <a:lnSpc>
                <a:spcPct val="1151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SIMATS ENGINEERING</a:t>
            </a:r>
            <a:endParaRPr sz="2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13333" lvl="0" indent="0" algn="ctr" rtl="0">
              <a:lnSpc>
                <a:spcPct val="110204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Saveetha Institute of Medical and Technical Sciences Chennai-602105</a:t>
            </a:r>
            <a:r>
              <a:rPr lang="en-US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13333" lvl="0" indent="0" algn="ctr" rtl="0">
              <a:lnSpc>
                <a:spcPct val="110204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endParaRPr sz="1250" b="1" dirty="0">
              <a:solidFill>
                <a:srgbClr val="FF0000"/>
              </a:solidFill>
            </a:endParaRPr>
          </a:p>
          <a:p>
            <a:pPr marL="105410" marR="0" lvl="0" indent="0" algn="ctr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3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CSA0412  – Operating System</a:t>
            </a:r>
          </a:p>
          <a:p>
            <a:pPr marL="105410" lvl="0" algn="ctr">
              <a:spcBef>
                <a:spcPts val="365"/>
              </a:spcBef>
              <a:buClr>
                <a:schemeClr val="dk1"/>
              </a:buClr>
              <a:buSzPts val="1100"/>
            </a:pPr>
            <a:endParaRPr lang="en-US" sz="2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5410" marR="0" lvl="0" indent="0" algn="ctr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150" b="1" dirty="0">
                <a:solidFill>
                  <a:srgbClr val="002060"/>
                </a:solidFill>
                <a:highlight>
                  <a:srgbClr val="6D9EEB"/>
                </a:highlight>
              </a:rPr>
              <a:t>Operating System in a Banking System Handling Thousands of Transactions</a:t>
            </a:r>
          </a:p>
          <a:p>
            <a:pPr marL="105410" marR="0" lvl="0" indent="0" algn="ctr" rtl="0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2150" b="1" dirty="0">
              <a:solidFill>
                <a:schemeClr val="dk1"/>
              </a:solidFill>
              <a:highlight>
                <a:srgbClr val="6D9EEB"/>
              </a:highlight>
            </a:endParaRPr>
          </a:p>
        </p:txBody>
      </p:sp>
      <p:pic>
        <p:nvPicPr>
          <p:cNvPr id="44" name="Google Shape;4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34420" y="209550"/>
            <a:ext cx="6953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884" y="209550"/>
            <a:ext cx="90487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/>
          <p:nvPr/>
        </p:nvSpPr>
        <p:spPr>
          <a:xfrm>
            <a:off x="7630161" y="4509031"/>
            <a:ext cx="3870900" cy="1145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0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Presentation by :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004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amesh S(192521358)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>
              <a:lnSpc>
                <a:spcPct val="100400"/>
              </a:lnSpc>
              <a:spcBef>
                <a:spcPts val="90"/>
              </a:spcBef>
              <a:buSzPts val="2400"/>
            </a:pPr>
            <a:r>
              <a:rPr lang="en-IN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548322" y="4664392"/>
            <a:ext cx="2715988" cy="834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Supervised by :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19375"/>
              </a:lnSpc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Dr.Riasudheen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28938" y="217639"/>
            <a:ext cx="6953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226" y="253269"/>
            <a:ext cx="876299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8"/>
          <p:cNvSpPr txBox="1"/>
          <p:nvPr/>
        </p:nvSpPr>
        <p:spPr>
          <a:xfrm>
            <a:off x="1132525" y="1624998"/>
            <a:ext cx="9078275" cy="4527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42900" indent="-342900" algn="just">
              <a:spcAft>
                <a:spcPts val="5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bank serves thousands of customers at the same time: ATMs, net banking, mobile apps, UPI and branch counters.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5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request is a transaction: balance check, deposit, withdrawal or transfer.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50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transaction must be fast, correct and secure</a:t>
            </a:r>
          </a:p>
          <a:p>
            <a:pPr algn="just">
              <a:spcAft>
                <a:spcPts val="500"/>
              </a:spcAft>
              <a:buClr>
                <a:schemeClr val="dk1"/>
              </a:buClr>
              <a:buSzPts val="1100"/>
            </a:pPr>
            <a:endParaRPr lang="en-US" sz="24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spcAft>
                <a:spcPts val="500"/>
              </a:spcAft>
              <a:buClr>
                <a:schemeClr val="dk1"/>
              </a:buClr>
              <a:buSzPts val="1100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the Operating System matters: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OS is the layer between the banking application / database and the hardware.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schedules processes, manages memory, files and devices, and protects data.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8"/>
          <p:cNvSpPr txBox="1"/>
          <p:nvPr/>
        </p:nvSpPr>
        <p:spPr>
          <a:xfrm>
            <a:off x="3511004" y="545898"/>
            <a:ext cx="6267503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INTRODUCTION</a:t>
            </a:r>
            <a:endParaRPr sz="4400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">
          <a:extLst>
            <a:ext uri="{FF2B5EF4-FFF2-40B4-BE49-F238E27FC236}">
              <a16:creationId xmlns:a16="http://schemas.microsoft.com/office/drawing/2014/main" id="{321D801B-0BE4-E839-B46C-8F45D84D0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8">
            <a:extLst>
              <a:ext uri="{FF2B5EF4-FFF2-40B4-BE49-F238E27FC236}">
                <a16:creationId xmlns:a16="http://schemas.microsoft.com/office/drawing/2014/main" id="{960644DB-F141-08F8-BB28-369C23B78D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16675" y="234219"/>
            <a:ext cx="6953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8">
            <a:extLst>
              <a:ext uri="{FF2B5EF4-FFF2-40B4-BE49-F238E27FC236}">
                <a16:creationId xmlns:a16="http://schemas.microsoft.com/office/drawing/2014/main" id="{7BB6E665-0B1F-5DC6-7F79-84247A05C9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000" y="211003"/>
            <a:ext cx="876299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8">
            <a:extLst>
              <a:ext uri="{FF2B5EF4-FFF2-40B4-BE49-F238E27FC236}">
                <a16:creationId xmlns:a16="http://schemas.microsoft.com/office/drawing/2014/main" id="{DBB6157C-2CD7-3358-93BF-CD267E8F8337}"/>
              </a:ext>
            </a:extLst>
          </p:cNvPr>
          <p:cNvSpPr txBox="1"/>
          <p:nvPr/>
        </p:nvSpPr>
        <p:spPr>
          <a:xfrm>
            <a:off x="644961" y="2266182"/>
            <a:ext cx="10671714" cy="367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role of an Operating System in managing banking operations and resources.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how the OS handles thousands of simultaneous banking transactions efficiently.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scheduling, memory management, and process management in banking systems.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the OS supports communication between banking applications, servers, ATMs, and databases.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8">
            <a:extLst>
              <a:ext uri="{FF2B5EF4-FFF2-40B4-BE49-F238E27FC236}">
                <a16:creationId xmlns:a16="http://schemas.microsoft.com/office/drawing/2014/main" id="{D630F338-7A25-9AA7-614A-DC9A696B39D5}"/>
              </a:ext>
            </a:extLst>
          </p:cNvPr>
          <p:cNvSpPr txBox="1"/>
          <p:nvPr/>
        </p:nvSpPr>
        <p:spPr>
          <a:xfrm>
            <a:off x="4448958" y="465203"/>
            <a:ext cx="3778456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OBJECTIVE</a:t>
            </a:r>
            <a:endParaRPr sz="4400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0316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>
            <a:off x="1595751" y="181530"/>
            <a:ext cx="9176273" cy="79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250" rIns="0" bIns="0" anchor="t" anchorCtr="0">
            <a:spAutoFit/>
          </a:bodyPr>
          <a:lstStyle/>
          <a:p>
            <a:pPr marL="22860" lvl="0"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Operating System</a:t>
            </a:r>
            <a:endParaRPr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6" name="Google Shape;8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62876" y="172005"/>
            <a:ext cx="6953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181530"/>
            <a:ext cx="876299" cy="895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AB5746-A4E2-F5D8-5970-EF81DE710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662732"/>
              </p:ext>
            </p:extLst>
          </p:nvPr>
        </p:nvGraphicFramePr>
        <p:xfrm>
          <a:off x="1104897" y="1198880"/>
          <a:ext cx="10312004" cy="51612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578001">
                  <a:extLst>
                    <a:ext uri="{9D8B030D-6E8A-4147-A177-3AD203B41FA5}">
                      <a16:colId xmlns:a16="http://schemas.microsoft.com/office/drawing/2014/main" val="2605316695"/>
                    </a:ext>
                  </a:extLst>
                </a:gridCol>
                <a:gridCol w="2578001">
                  <a:extLst>
                    <a:ext uri="{9D8B030D-6E8A-4147-A177-3AD203B41FA5}">
                      <a16:colId xmlns:a16="http://schemas.microsoft.com/office/drawing/2014/main" val="2377041548"/>
                    </a:ext>
                  </a:extLst>
                </a:gridCol>
                <a:gridCol w="2578001">
                  <a:extLst>
                    <a:ext uri="{9D8B030D-6E8A-4147-A177-3AD203B41FA5}">
                      <a16:colId xmlns:a16="http://schemas.microsoft.com/office/drawing/2014/main" val="2077083506"/>
                    </a:ext>
                  </a:extLst>
                </a:gridCol>
                <a:gridCol w="2578001">
                  <a:extLst>
                    <a:ext uri="{9D8B030D-6E8A-4147-A177-3AD203B41FA5}">
                      <a16:colId xmlns:a16="http://schemas.microsoft.com/office/drawing/2014/main" val="949549147"/>
                    </a:ext>
                  </a:extLst>
                </a:gridCol>
              </a:tblGrid>
              <a:tr h="596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 type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Banking use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Suitable?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182495"/>
                  </a:ext>
                </a:extLst>
              </a:tr>
              <a:tr h="6614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Jobs run in groups without user interaction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End-of-day interest, statements, reports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Partly (back-office)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2034699"/>
                  </a:ext>
                </a:extLst>
              </a:tr>
              <a:tr h="6614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Multiprogramming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Several programs kept in memory; CPU never idle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transactions share the CPU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860128"/>
                  </a:ext>
                </a:extLst>
              </a:tr>
              <a:tr h="6614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Time-sharing (multitasking)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time sliced among many users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users on terminals / net banking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106342"/>
                  </a:ext>
                </a:extLst>
              </a:tr>
              <a:tr h="6614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Multiprocessor (parallel)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CPUs share memory and work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 thousands of threads in parallel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(core)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369977"/>
                  </a:ext>
                </a:extLst>
              </a:tr>
              <a:tr h="6614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 machines act as one system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Branches, data centres, ATMs, disaster recovery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723290"/>
                  </a:ext>
                </a:extLst>
              </a:tr>
              <a:tr h="6614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(RTOS)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Guaranteed response deadlines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ATM, card payment switch, fraud checks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(for critical parts)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097657"/>
                  </a:ext>
                </a:extLst>
              </a:tr>
              <a:tr h="5961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Single-user desktop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user at a time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 employee PC only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(server)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95616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1373131" y="215468"/>
            <a:ext cx="9773920" cy="79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250" rIns="0" bIns="0" anchor="t" anchorCtr="0">
            <a:spAutoFit/>
          </a:bodyPr>
          <a:lstStyle/>
          <a:p>
            <a:pPr marL="5918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of Banking Workload</a:t>
            </a:r>
          </a:p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9525" y="19050"/>
            <a:ext cx="6953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359" y="132366"/>
            <a:ext cx="876299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/>
          <p:nvPr/>
        </p:nvSpPr>
        <p:spPr>
          <a:xfrm>
            <a:off x="204359" y="1856921"/>
            <a:ext cx="7689961" cy="44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63550" lvl="0" indent="-342900" algn="just">
              <a:lnSpc>
                <a:spcPct val="150000"/>
              </a:lnSpc>
              <a:buClr>
                <a:schemeClr val="dk1"/>
              </a:buClr>
              <a:buSzPts val="1700"/>
              <a:buFont typeface="Wingdings" panose="05000000000000000000" pitchFamily="2" charset="2"/>
              <a:buChar char="q"/>
            </a:pPr>
            <a:endParaRPr sz="2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E498AA-FF1D-9849-6DF1-0328889A7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287302"/>
              </p:ext>
            </p:extLst>
          </p:nvPr>
        </p:nvGraphicFramePr>
        <p:xfrm>
          <a:off x="1178560" y="1288626"/>
          <a:ext cx="10383519" cy="4797216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3461173">
                  <a:extLst>
                    <a:ext uri="{9D8B030D-6E8A-4147-A177-3AD203B41FA5}">
                      <a16:colId xmlns:a16="http://schemas.microsoft.com/office/drawing/2014/main" val="3505884498"/>
                    </a:ext>
                  </a:extLst>
                </a:gridCol>
                <a:gridCol w="3461173">
                  <a:extLst>
                    <a:ext uri="{9D8B030D-6E8A-4147-A177-3AD203B41FA5}">
                      <a16:colId xmlns:a16="http://schemas.microsoft.com/office/drawing/2014/main" val="3748797739"/>
                    </a:ext>
                  </a:extLst>
                </a:gridCol>
                <a:gridCol w="3461173">
                  <a:extLst>
                    <a:ext uri="{9D8B030D-6E8A-4147-A177-3AD203B41FA5}">
                      <a16:colId xmlns:a16="http://schemas.microsoft.com/office/drawing/2014/main" val="1537145942"/>
                    </a:ext>
                  </a:extLst>
                </a:gridCol>
              </a:tblGrid>
              <a:tr h="602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 for banking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 support needed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139470"/>
                  </a:ext>
                </a:extLst>
              </a:tr>
              <a:tr h="718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concurrency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Thousands of transactions at once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Multiprogramming, multithreading, multiprocessor scheduling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974387"/>
                  </a:ext>
                </a:extLst>
              </a:tr>
              <a:tr h="718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Correctness (ACID)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lost or partial updates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Synchronisation, locking, atomic file/disk writes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951188"/>
                  </a:ext>
                </a:extLst>
              </a:tr>
              <a:tr h="718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response time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gets reply in seconds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scheduling and I/O, real-time priorities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9906070"/>
                  </a:ext>
                </a:extLst>
              </a:tr>
              <a:tr h="718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 / availability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x 7 service, no data loss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 tolerance, journaling file system, backups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67788"/>
                  </a:ext>
                </a:extLst>
              </a:tr>
              <a:tr h="718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authorised access to accounts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Authentication, access control, encryption, audit logs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049919"/>
                  </a:ext>
                </a:extLst>
              </a:tr>
              <a:tr h="602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Growing customers and branches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Multiprocessor and distributed support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9438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2416-2835-C383-330A-CCD0A1E4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3510" y="316587"/>
            <a:ext cx="8756015" cy="677108"/>
          </a:xfrm>
        </p:spPr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Structures</a:t>
            </a: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87;p12">
            <a:extLst>
              <a:ext uri="{FF2B5EF4-FFF2-40B4-BE49-F238E27FC236}">
                <a16:creationId xmlns:a16="http://schemas.microsoft.com/office/drawing/2014/main" id="{84BE1A24-43BD-2709-A5D7-6F1F1A9B9EF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50" y="98345"/>
            <a:ext cx="876299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8;p11">
            <a:extLst>
              <a:ext uri="{FF2B5EF4-FFF2-40B4-BE49-F238E27FC236}">
                <a16:creationId xmlns:a16="http://schemas.microsoft.com/office/drawing/2014/main" id="{37EE9AA4-A2F4-4549-B2B1-29AC0929A5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9525" y="19050"/>
            <a:ext cx="695325" cy="914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B06E9C-E7A1-DF07-33F2-8AC01EDCE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40633"/>
              </p:ext>
            </p:extLst>
          </p:nvPr>
        </p:nvGraphicFramePr>
        <p:xfrm>
          <a:off x="711201" y="1544638"/>
          <a:ext cx="10367199" cy="4155120"/>
        </p:xfrm>
        <a:graphic>
          <a:graphicData uri="http://schemas.openxmlformats.org/drawingml/2006/table">
            <a:tbl>
              <a:tblPr/>
              <a:tblGrid>
                <a:gridCol w="1744980">
                  <a:extLst>
                    <a:ext uri="{9D8B030D-6E8A-4147-A177-3AD203B41FA5}">
                      <a16:colId xmlns:a16="http://schemas.microsoft.com/office/drawing/2014/main" val="463032997"/>
                    </a:ext>
                  </a:extLst>
                </a:gridCol>
                <a:gridCol w="3695237">
                  <a:extLst>
                    <a:ext uri="{9D8B030D-6E8A-4147-A177-3AD203B41FA5}">
                      <a16:colId xmlns:a16="http://schemas.microsoft.com/office/drawing/2014/main" val="1193769195"/>
                    </a:ext>
                  </a:extLst>
                </a:gridCol>
                <a:gridCol w="2709840">
                  <a:extLst>
                    <a:ext uri="{9D8B030D-6E8A-4147-A177-3AD203B41FA5}">
                      <a16:colId xmlns:a16="http://schemas.microsoft.com/office/drawing/2014/main" val="2664138460"/>
                    </a:ext>
                  </a:extLst>
                </a:gridCol>
                <a:gridCol w="2217142">
                  <a:extLst>
                    <a:ext uri="{9D8B030D-6E8A-4147-A177-3AD203B41FA5}">
                      <a16:colId xmlns:a16="http://schemas.microsoft.com/office/drawing/2014/main" val="1727791696"/>
                    </a:ext>
                  </a:extLst>
                </a:gridCol>
              </a:tblGrid>
              <a:tr h="692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07033"/>
                  </a:ext>
                </a:extLst>
              </a:tr>
              <a:tr h="692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Monolithic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All OS services in one large kernel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Fast (no message passing)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One bug can crash the whole system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634250"/>
                  </a:ext>
                </a:extLst>
              </a:tr>
              <a:tr h="692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Layered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OS built in layers; each uses the one below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Easy to debug and verify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Layer overhead; hard to define layers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818304"/>
                  </a:ext>
                </a:extLst>
              </a:tr>
              <a:tr h="692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Microkernel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Minimal kernel; services run as user processes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Reliable, secure, easy to extend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Message passing is slower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434732"/>
                  </a:ext>
                </a:extLst>
              </a:tr>
              <a:tr h="692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Modular (loadable modules)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Monolithic core + modules loaded on demand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Flexible and fast (Linux)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Modules run in kernel mode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104979"/>
                  </a:ext>
                </a:extLst>
              </a:tr>
              <a:tr h="692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Hybrid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Mix of microkernel and monolithic ideas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Balance of speed and safety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More complex design</a:t>
                      </a:r>
                      <a:endParaRPr lang="en-US" sz="14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15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326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BD158-9C77-1A75-FB8E-69E2D174E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052" y="296673"/>
            <a:ext cx="9418320" cy="1354217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System Processing in Transaction Processing</a:t>
            </a: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87;p12">
            <a:extLst>
              <a:ext uri="{FF2B5EF4-FFF2-40B4-BE49-F238E27FC236}">
                <a16:creationId xmlns:a16="http://schemas.microsoft.com/office/drawing/2014/main" id="{453127E2-3362-E1C6-9A8F-0AE5140B388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469" y="78431"/>
            <a:ext cx="876299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8;p11">
            <a:extLst>
              <a:ext uri="{FF2B5EF4-FFF2-40B4-BE49-F238E27FC236}">
                <a16:creationId xmlns:a16="http://schemas.microsoft.com/office/drawing/2014/main" id="{E37D2396-B916-97B7-E658-AB07D6A9F1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8561" y="59381"/>
            <a:ext cx="77597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A802AA-2BDB-D9B5-F6F6-A582F6E52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2224901"/>
            <a:ext cx="11023600" cy="353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25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>
            <a:spLocks noGrp="1"/>
          </p:cNvSpPr>
          <p:nvPr>
            <p:ph type="title"/>
          </p:nvPr>
        </p:nvSpPr>
        <p:spPr>
          <a:xfrm>
            <a:off x="3835971" y="242570"/>
            <a:ext cx="4643882" cy="855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250" rIns="0" bIns="0" anchor="t" anchorCtr="0">
            <a:spAutoFit/>
          </a:bodyPr>
          <a:lstStyle/>
          <a:p>
            <a:pPr marL="720725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3" name="Google Shape;18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9525" y="19050"/>
            <a:ext cx="6953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" y="98589"/>
            <a:ext cx="876299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4"/>
          <p:cNvSpPr txBox="1">
            <a:spLocks noGrp="1"/>
          </p:cNvSpPr>
          <p:nvPr>
            <p:ph type="body" idx="1"/>
          </p:nvPr>
        </p:nvSpPr>
        <p:spPr>
          <a:xfrm>
            <a:off x="641349" y="1501875"/>
            <a:ext cx="11245851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5715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System plays a vital role in managing banking operations and processing thousands of transactions efficiently.</a:t>
            </a:r>
          </a:p>
          <a:p>
            <a:pPr marL="5715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CPU scheduling, memory, processes, storage, and network communication.</a:t>
            </a:r>
          </a:p>
          <a:p>
            <a:pPr marL="5715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secure communication between banking applications, servers, and databases.</a:t>
            </a:r>
          </a:p>
          <a:p>
            <a:pPr marL="5715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resource management and database transaction control help maintain data consistency and system reliability.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ildren silhouette holding letters colored of the word thank you - holding thank you banner stock illustrations">
            <a:extLst>
              <a:ext uri="{FF2B5EF4-FFF2-40B4-BE49-F238E27FC236}">
                <a16:creationId xmlns:a16="http://schemas.microsoft.com/office/drawing/2014/main" id="{7243533B-2784-A29E-DE10-67C207F3E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" y="325120"/>
            <a:ext cx="12039600" cy="642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604</Words>
  <Application>Microsoft Office PowerPoint</Application>
  <PresentationFormat>Widescreen</PresentationFormat>
  <Paragraphs>110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Types of Operating System</vt:lpstr>
      <vt:lpstr>Requirements of Banking Workload</vt:lpstr>
      <vt:lpstr>Operating System Structures</vt:lpstr>
      <vt:lpstr>Role of System Processing in Transaction Processing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jaganathan</dc:creator>
  <cp:lastModifiedBy>Nega shri</cp:lastModifiedBy>
  <cp:revision>9</cp:revision>
  <dcterms:modified xsi:type="dcterms:W3CDTF">2026-10-20T08:46:33Z</dcterms:modified>
</cp:coreProperties>
</file>